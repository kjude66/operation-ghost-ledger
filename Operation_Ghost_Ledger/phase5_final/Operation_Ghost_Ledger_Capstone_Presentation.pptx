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68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114800" cy="411480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7133 · DIGITAL FORENSICS 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Ghost Ledger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Action Plan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hypothesis-driven, evidence-based playbook for validating, imaging, analysing and reporting the Nkosi–Okafor bribery case.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05840" cy="41148"/>
          </a:xfrm>
          <a:prstGeom prst="rect">
            <a:avLst/>
          </a:prstGeom>
          <a:solidFill>
            <a:srgbClr val="C996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89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Kum Jude Wung  ·  Advanced Digital Forensics / ISS 7133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Class 1–3 lecture decks + Operation_Ghost_Ledger_Complete_Capstone.docx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Capstone Is Found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full in Class 1, then re-applied to new techniques in Classes 2 and 3.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084832"/>
            <a:ext cx="457200" cy="45720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4825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408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Fundamentals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276148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THE CASE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" y="3191256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272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Hook — full scenario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5112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16–18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8952" y="3977640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136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Packages A &amp;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2976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19–21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952" y="4764024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7000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Deliverables &amp; Milestones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50840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22–27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8952" y="5550408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486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Recap — complete summary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58704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236–238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97680" y="182880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208483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5371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66360" y="204825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23408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Types, Lifecycle &amp; Legal Foundations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53712" y="276148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IPC-EAR + LAW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53712" y="3191256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1272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Connection call-outs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5112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53712" y="3977640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9136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Categorisation exercise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42976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~p. 27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53712" y="4764024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7000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IPC-EAR applied to the case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50840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~pp. 74–100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53712" y="5550408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5486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Integration + quiz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58704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~pp. 230–257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92440" y="182880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48472" y="2084832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43" name="Text 41"/>
          <p:cNvSpPr/>
          <p:nvPr/>
        </p:nvSpPr>
        <p:spPr>
          <a:xfrm>
            <a:off x="834847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961120" y="204825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61120" y="23408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Imaging &amp; Cryptographic Hashing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48472" y="276148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IMAGING + HASHING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348472" y="3191256"/>
            <a:ext cx="64008" cy="6400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48" name="Text 46"/>
          <p:cNvSpPr/>
          <p:nvPr/>
        </p:nvSpPr>
        <p:spPr>
          <a:xfrm>
            <a:off x="8549640" y="31272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Package B (Okafor's laptop)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549640" y="35112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348472" y="3977640"/>
            <a:ext cx="64008" cy="6400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51" name="Text 49"/>
          <p:cNvSpPr/>
          <p:nvPr/>
        </p:nvSpPr>
        <p:spPr>
          <a:xfrm>
            <a:off x="8549640" y="39136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verification &amp; NSRL filtering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549640" y="42976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48472" y="4764024"/>
            <a:ext cx="64008" cy="6400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54" name="Text 52"/>
          <p:cNvSpPr/>
          <p:nvPr/>
        </p:nvSpPr>
        <p:spPr>
          <a:xfrm>
            <a:off x="8549640" y="47000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Integration + quiz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549640" y="50840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~pp. 250–255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PP. 16-18 · DOCX §1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2763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ACCUSED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86537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Senator Kwame Nkosi (Chair, Senate Cttee on Public Works) &amp; Director-General Amara Okafor (NWPA).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57860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ALLEGATION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28163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Soliciting a 15% kickback on a $500M contract — the Bahari River Dam.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438144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52958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376732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surfaced on a whistleblower site and went viral on social media.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389120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480560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471830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“Political deepfake coup” — claims the audio is AI voice-cloned, the ledgers AI-generated, and files planted via a zero-day exploit.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340096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543153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56692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Forensic Examiner, Bahari Anti-Corruption Commission (BACC).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1536192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YOU MUST ANSWER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22860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digital evidence support genuine corruption, digital manipulation, or a mixture of authentic and manipulated material?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72400" y="3977640"/>
            <a:ext cx="3566160" cy="0"/>
          </a:xfrm>
          <a:prstGeom prst="line">
            <a:avLst/>
          </a:prstGeom>
          <a:noFill/>
          <a:ln w="12700">
            <a:solidFill>
              <a:srgbClr val="2A3F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RULE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4805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must be validated before Package B is examined — the public leak is the first crime scene.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§3 · CORE HYPOTHESIS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Hypothesis &amp; Sub-Hypotheses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653796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HYPOTHESIS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leaked files are a mixture of authentic and AI-manipulated content.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SUB-HYPOTHESES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6537960" cy="786384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401568"/>
            <a:ext cx="384048" cy="38404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291840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audio base is authentic, but the 15% figure was spliced.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96512"/>
            <a:ext cx="6537960" cy="786384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297680"/>
            <a:ext cx="384048" cy="38404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87952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contains authentic structural data but doctored financial amounts.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992624"/>
            <a:ext cx="6537960" cy="786384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5193792"/>
            <a:ext cx="384048" cy="38404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193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5084064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spreadsheet was created on Okafor's laptop and later modified.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0" y="1508760"/>
            <a:ext cx="4343400" cy="4800600"/>
          </a:xfrm>
          <a:prstGeom prst="roundRect">
            <a:avLst>
              <a:gd name="adj" fmla="val 1684"/>
            </a:avLst>
          </a:prstGeom>
          <a:solidFill>
            <a:srgbClr val="FBEFEC"/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7830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PROVE THIS WRONG?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89520" y="21488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Falsification criteria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89520" y="2606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hypothesis is weakened or falsified if: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3163824"/>
            <a:ext cx="82296" cy="8229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5" name="Text 23"/>
          <p:cNvSpPr/>
          <p:nvPr/>
        </p:nvSpPr>
        <p:spPr>
          <a:xfrm>
            <a:off x="7845552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splicing is found in the audio.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40" y="3822192"/>
            <a:ext cx="82296" cy="8229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7" name="Text 25"/>
          <p:cNvSpPr/>
          <p:nvPr/>
        </p:nvSpPr>
        <p:spPr>
          <a:xfrm>
            <a:off x="7845552" y="37216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does not differ between relevant file versions.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35240" y="4480560"/>
            <a:ext cx="82296" cy="8229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9" name="Text 27"/>
          <p:cNvSpPr/>
          <p:nvPr/>
        </p:nvSpPr>
        <p:spPr>
          <a:xfrm>
            <a:off x="7845552" y="43799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AI-generation artifacts are detected in any exhibit.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89520" y="5212080"/>
            <a:ext cx="3794760" cy="0"/>
          </a:xfrm>
          <a:prstGeom prst="line">
            <a:avLst/>
          </a:prstGeom>
          <a:noFill/>
          <a:ln w="12700">
            <a:solidFill>
              <a:srgbClr val="E7C6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53492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7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science, not prosecution: the examiner must actively try to disprove the hypothesis, not just confirm it.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PP. 19-21 · DOCX §2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Evidence Packages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373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373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2240280"/>
            <a:ext cx="4855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Public Leak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2679192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evidence — no formal chain of custody.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3227832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5468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audio.wav (alleged bribe negotiation)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" y="3593592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2044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Execution_Certificate.pdf (signed contract)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" y="3959352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8620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Bribe_Calculation.xlsx (15% kickback breakdown)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" y="4325112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whistleblower site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4690872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61772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webpage (.warc) of the news article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" y="5532120"/>
            <a:ext cx="485546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5577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1: hash every file as Exhibits L-01–L-05, log source URL &amp; timestamp, test each sub-hypothesis.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72200" y="14630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17373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17373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64808" y="2240280"/>
            <a:ext cx="4855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Seized Hardware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64808" y="2679192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Seized evidence — under formal warrant, with chain of custody.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64808" y="3227832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15468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 image of Okafor's laptop (250GB)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64808" y="3593592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52044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dump (.mem), captured 2 hrs post-leak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64808" y="3959352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88620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network PCAP from Nkosi's router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64808" y="4325112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425196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mobile backups (Android &amp; iPhone)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64808" y="4690872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461772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access logs — NWPA Oracle Cloud portal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64808" y="5532120"/>
            <a:ext cx="485546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1112" y="5577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image with a write-blocker, generate SHA-256 hashes, log the procedure.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PP. 22-27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5 Phases, 15 Weeks, 4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154680"/>
            <a:ext cx="10515600" cy="0"/>
          </a:xfrm>
          <a:prstGeom prst="line">
            <a:avLst/>
          </a:prstGeom>
          <a:noFill/>
          <a:ln w="381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2962656"/>
            <a:ext cx="384048" cy="384048"/>
          </a:xfrm>
          <a:prstGeom prst="ellipse">
            <a:avLst/>
          </a:prstGeom>
          <a:solidFill>
            <a:srgbClr val="B03A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4572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-109728" y="3447288"/>
            <a:ext cx="186537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-18288" y="3566160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Evidence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7160" y="4270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" y="4270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259836" y="2962656"/>
            <a:ext cx="384048" cy="384048"/>
          </a:xfrm>
          <a:prstGeom prst="ellipse">
            <a:avLst/>
          </a:prstGeom>
          <a:solidFill>
            <a:srgbClr val="C9962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9836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31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9172" y="3447288"/>
            <a:ext cx="186537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0612" y="3566160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Acquisition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Imaging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66060" y="4270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9962B"/>
          </a:solidFill>
          <a:ln/>
        </p:spPr>
      </p:sp>
      <p:sp>
        <p:nvSpPr>
          <p:cNvPr id="18" name="Text 16"/>
          <p:cNvSpPr/>
          <p:nvPr/>
        </p:nvSpPr>
        <p:spPr>
          <a:xfrm>
            <a:off x="2766060" y="4270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888736" y="2962656"/>
            <a:ext cx="384048" cy="384048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6–12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48072" y="3447288"/>
            <a:ext cx="186537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3566160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94960" y="4270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4270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517636" y="2962656"/>
            <a:ext cx="384048" cy="384048"/>
          </a:xfrm>
          <a:prstGeom prst="ellipse">
            <a:avLst/>
          </a:prstGeom>
          <a:solidFill>
            <a:srgbClr val="2E7D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17636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409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6972" y="3447288"/>
            <a:ext cx="186537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8412" y="3566160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23860" y="4270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32" name="Text 30"/>
          <p:cNvSpPr/>
          <p:nvPr/>
        </p:nvSpPr>
        <p:spPr>
          <a:xfrm>
            <a:off x="8023860" y="4270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11146536" y="2962656"/>
            <a:ext cx="384048" cy="384048"/>
          </a:xfrm>
          <a:prstGeom prst="ellipse">
            <a:avLst/>
          </a:prstGeom>
          <a:solidFill>
            <a:srgbClr val="6B3FA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46536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698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05872" y="3447288"/>
            <a:ext cx="186537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97312" y="3566160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Affidavit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Testimony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652760" y="4270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/>
        </p:spPr>
      </p:sp>
      <p:sp>
        <p:nvSpPr>
          <p:cNvPr id="39" name="Text 37"/>
          <p:cNvSpPr/>
          <p:nvPr/>
        </p:nvSpPr>
        <p:spPr>
          <a:xfrm>
            <a:off x="10652760" y="4270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rule throughout: trust nothing, verify everything — and actively seek evidence that disproves the core hypothesis.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PP. 22-27 · DOCX §4-6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 — Phases 1–3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38912" cy="438912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824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Evidence</a:t>
            </a:r>
            <a:endParaRPr lang="en-US" sz="1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98648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&amp; catalogue every leaked file (L-01–L-05)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3502152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38144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EXIF/XMP &amp; PDF object metadata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1520" y="4105656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041648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analysis of audio at the 15% mark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54864" cy="5486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645152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PDF structure &amp; embedded JavaScript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85800" y="5458968"/>
            <a:ext cx="3200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553212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kern="0" spc="1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813816" y="5733288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Public Evidence Validation Report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297680" y="146304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1691640"/>
            <a:ext cx="438912" cy="438912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1691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16824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21762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Acquisition</a:t>
            </a:r>
            <a:endParaRPr lang="en-US" sz="1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Imaging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26280" y="2898648"/>
            <a:ext cx="54864" cy="54864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48" y="2834640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Write-blocked image of Okafor's laptop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526280" y="3502152"/>
            <a:ext cx="54864" cy="54864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28" name="Text 26"/>
          <p:cNvSpPr/>
          <p:nvPr/>
        </p:nvSpPr>
        <p:spPr>
          <a:xfrm>
            <a:off x="4727448" y="3438144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verify SHA-256 hashes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526280" y="4105656"/>
            <a:ext cx="54864" cy="54864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30" name="Text 28"/>
          <p:cNvSpPr/>
          <p:nvPr/>
        </p:nvSpPr>
        <p:spPr>
          <a:xfrm>
            <a:off x="4727448" y="4041648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chain of custody for every device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526280" y="4709160"/>
            <a:ext cx="54864" cy="54864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4645152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analyse Package B until A is validated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480560" y="5458968"/>
            <a:ext cx="3200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996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553212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4608576" y="5733288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Acquisition &amp; Chain-of-Custody Log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8092440" y="146304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1691640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1691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69680" y="16824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21040" y="21762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Multi-Domain</a:t>
            </a:r>
            <a:endParaRPr lang="en-US" sz="1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321040" y="2898648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2" name="Text 40"/>
          <p:cNvSpPr/>
          <p:nvPr/>
        </p:nvSpPr>
        <p:spPr>
          <a:xfrm>
            <a:off x="8522208" y="2834640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Filesystem: $MFT, registry, deleted data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8321040" y="3502152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4" name="Text 42"/>
          <p:cNvSpPr/>
          <p:nvPr/>
        </p:nvSpPr>
        <p:spPr>
          <a:xfrm>
            <a:off x="8522208" y="3438144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reconstruct the 72-hr PCAP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8321040" y="4105656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6" name="Text 44"/>
          <p:cNvSpPr/>
          <p:nvPr/>
        </p:nvSpPr>
        <p:spPr>
          <a:xfrm>
            <a:off x="8522208" y="4041648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Volatility — processes &amp; connections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8321040" y="4709160"/>
            <a:ext cx="54864" cy="548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8" name="Text 46"/>
          <p:cNvSpPr/>
          <p:nvPr/>
        </p:nvSpPr>
        <p:spPr>
          <a:xfrm>
            <a:off x="8522208" y="4645152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cloud logs &amp; anti-forensics checks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8275320" y="5458968"/>
            <a:ext cx="3200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03336" y="553212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8403336" y="5733288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Case File Updates, each class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PP. 22-27 · DOCX §7-8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 — Phases 4–5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63540" cy="4892040"/>
          </a:xfrm>
          <a:prstGeom prst="roundRect">
            <a:avLst>
              <a:gd name="adj" fmla="val 1495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82496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50063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&amp;</a:t>
            </a:r>
            <a:endParaRPr lang="en-US" sz="1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98648"/>
            <a:ext cx="54864" cy="548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Package A findings with Package B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3502152"/>
            <a:ext cx="54864" cy="548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38144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master timeline (independent sources)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1520" y="4105656"/>
            <a:ext cx="54864" cy="548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041648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observation from interpretation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54864" cy="548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645152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Okafor, Nkosi, or a 3rd party manipulated evidence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85800" y="5458968"/>
            <a:ext cx="50977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5532120"/>
            <a:ext cx="48417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813816" y="5733288"/>
            <a:ext cx="4841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Correlation &amp; Reconstruction Report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195060" y="1463040"/>
            <a:ext cx="5463540" cy="4892040"/>
          </a:xfrm>
          <a:prstGeom prst="roundRect">
            <a:avLst>
              <a:gd name="adj" fmla="val 1495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3660" y="1691640"/>
            <a:ext cx="438912" cy="438912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2" name="Text 20"/>
          <p:cNvSpPr/>
          <p:nvPr/>
        </p:nvSpPr>
        <p:spPr>
          <a:xfrm>
            <a:off x="6423660" y="1691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72300" y="1682496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23660" y="2176272"/>
            <a:ext cx="50063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Affidavit &amp;</a:t>
            </a:r>
            <a:endParaRPr lang="en-US" sz="1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Testimony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23660" y="2898648"/>
            <a:ext cx="54864" cy="5486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6" name="Text 24"/>
          <p:cNvSpPr/>
          <p:nvPr/>
        </p:nvSpPr>
        <p:spPr>
          <a:xfrm>
            <a:off x="6624828" y="2834640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forensic affidavit for the High Court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423660" y="3502152"/>
            <a:ext cx="54864" cy="5486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8" name="Text 26"/>
          <p:cNvSpPr/>
          <p:nvPr/>
        </p:nvSpPr>
        <p:spPr>
          <a:xfrm>
            <a:off x="6624828" y="3438144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conclusions at the forensic, not legal, level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23660" y="4105656"/>
            <a:ext cx="54864" cy="5486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4828" y="4041648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15-minute mock expert-testimony talk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423660" y="4709160"/>
            <a:ext cx="54864" cy="5486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2" name="Text 30"/>
          <p:cNvSpPr/>
          <p:nvPr/>
        </p:nvSpPr>
        <p:spPr>
          <a:xfrm>
            <a:off x="6624828" y="4645152"/>
            <a:ext cx="48051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Withstand cross-examination from classmates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377940" y="5458968"/>
            <a:ext cx="50977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5956" y="5532120"/>
            <a:ext cx="48417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kern="0" spc="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6505956" y="5733288"/>
            <a:ext cx="4841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Final Affidavit &amp; Oral Presentation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§4 &amp; §6 · STUDY AID — NOT A VERIFIED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Course Walkthrough Anticipates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FBEFEC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80" b="1" i="1" dirty="0">
                <a:solidFill>
                  <a:srgbClr val="7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course's teaching-scenario expectations, not a verified laboratory result. The real Milestone reports must state only what the actual supplied evidence shows.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48840"/>
            <a:ext cx="82296" cy="40233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33172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Package 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" y="2907792"/>
            <a:ext cx="64008" cy="6400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346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splicing detected at the 15% reference point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" y="3529584"/>
            <a:ext cx="64008" cy="6400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5643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backdated metadata and embedded JavaScript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4151376"/>
            <a:ext cx="64008" cy="6400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7822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Spreadsheet: authentic base, but modified financial figures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1488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148840"/>
            <a:ext cx="82296" cy="4023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233172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Package 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64808" y="2907792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8346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Original, unaltered files remain on the laptop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64808" y="3529584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45643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evidence for “Voice_Cloner_Pro”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64808" y="4151376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07822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connections to cloud storage &amp; the whistleblower site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64808" y="4773168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70001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files containing the original 10% figure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64808" y="5394960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532180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/ Shellbags showing access to incriminating files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§7.1 · PHASE 4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Timeline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every row only from the actual supplied evidence — never fabricate a value.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 /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Leaked audio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[populate from analysis]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for splicing at 15%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spreadsheet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A/B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[populate from analysis]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creator / metadata / content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 / process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/ filesystem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[populate from analysis]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manipulation capability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session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[populate from analysis]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 external activity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access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JSON logs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[populate from analysis]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 account activity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§10 · TOOLING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Toolkit, Mapped to Each Domain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773936"/>
            <a:ext cx="292608" cy="29260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1737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&amp; Hashing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217627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FTK Imager (write-blocked), SHA-256 verification, NSRL known-file filtering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5664" y="1773936"/>
            <a:ext cx="292608" cy="2926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737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Filesystem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10528" y="217627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/ The Sleuth Kit — $MFT, registry, deleted files, timeline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3401568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" y="336499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5528" y="380390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— PCAP / session reconstruction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182112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340156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336499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0528" y="380390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— processes and network artefacts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809744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" y="5029200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2" name="Text 20"/>
          <p:cNvSpPr/>
          <p:nvPr/>
        </p:nvSpPr>
        <p:spPr>
          <a:xfrm>
            <a:off x="1161288" y="499262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&amp; Cloud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5431536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analysis tools — WhatsApp, GPS, calls; Oracle Cloud JSON logs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809744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5029200"/>
            <a:ext cx="292608" cy="292608"/>
          </a:xfrm>
          <a:prstGeom prst="ellipse">
            <a:avLst/>
          </a:prstGeom>
          <a:solidFill>
            <a:srgbClr val="1B6E8C"/>
          </a:solidFill>
          <a:ln/>
        </p:spPr>
      </p:sp>
      <p:sp>
        <p:nvSpPr>
          <p:cNvPr id="26" name="Text 24"/>
          <p:cNvSpPr/>
          <p:nvPr/>
        </p:nvSpPr>
        <p:spPr>
          <a:xfrm>
            <a:off x="6876288" y="499262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&amp; Detection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10528" y="5431536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ExifTool / PDF structure tools; YARA for pattern-based artefact detection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Procedural Guardrails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authority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2376" y="213055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right instrument — warrant vs. subpoena — before every seizure or access request; stay within CFAA / ECPA bounds.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06824" y="150876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of custody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213055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item, especially Package B, needs unbroken documentation: who, what, when, why, transferred to whom.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10728" y="150876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order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30184" y="213055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must be validated before Package B is examined — the leak is the first crime scene.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 discipline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2376" y="427939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manipulation is attributable to Okafor, Nkosi, or a third party — never infer authorship from a single artefact.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06824" y="365760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roles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427939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observation/examination distinct from analysis/interpretation throughout the correlation phase.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10728" y="365760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standards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0184" y="427939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procedures to NIST SP 800-86 and SWGDE best practices; disclose limitations in the final report.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§9 · SCIENTIFIC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Daubert Standard &amp; Cognitive Bias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must be testable, reproducible and independently reviewable.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543507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15435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11019" y="1783080"/>
            <a:ext cx="1543507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2211019" y="1783080"/>
            <a:ext cx="15435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19118" y="178308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919118" y="178308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28462" y="1783080"/>
            <a:ext cx="1345997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528462" y="1783080"/>
            <a:ext cx="13459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39051" y="1783080"/>
            <a:ext cx="2234794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039051" y="1783080"/>
            <a:ext cx="22347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acceptance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 bias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Blind/independent analysis; actively test contradictory explanations.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/ expectation bias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case context from technical examination where possible.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build the timeline around a single initial timestamp.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uncertainty, limitations and confidence; avoid absolute claims without support.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§11 · SUBMISSION ARTIFACT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0" y="160020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structure, evidence-handling policy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30552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3055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Operation_Ghost_Ledger_Complete_Capstone.docx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2130552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narrative report — all phases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6090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01_case_setup/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2660904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ID, core hypothesis, evidence_inventory.csv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91256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9125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02_phase1_public_validation/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3191256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hash_catalog.csv + validation report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21608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2160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03_phase2_acquisition/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3721608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chain_of_custody.csv + acquisition_log.csv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04_phase3_analysis/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425196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/ memory / network / mobile / cloud / anti-forensics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82312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8231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05_phase4_correlation/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4782312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master_timeline.csv + correlation_report.md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312664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1266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06_phase5_final/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5312664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affidavit.md + capstone presentation (.pptx)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843016"/>
            <a:ext cx="11155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84301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0" y="5843016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sha256_catalog.py — reproducible hashing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 &amp; SUBMISSION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7863840" cy="841248"/>
          </a:xfrm>
          <a:prstGeom prst="roundRect">
            <a:avLst>
              <a:gd name="adj" fmla="val 7609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73936"/>
            <a:ext cx="438912" cy="438912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73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Public Evidence Validation Report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35240" y="1847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42032"/>
            <a:ext cx="7863840" cy="841248"/>
          </a:xfrm>
          <a:prstGeom prst="roundRect">
            <a:avLst>
              <a:gd name="adj" fmla="val 7609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43200"/>
            <a:ext cx="438912" cy="438912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Acquisition &amp; Chain-of-Custody Log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71600" y="302666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28163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C996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11296"/>
            <a:ext cx="7863840" cy="841248"/>
          </a:xfrm>
          <a:prstGeom prst="roundRect">
            <a:avLst>
              <a:gd name="adj" fmla="val 7609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1246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Correlation &amp; Reconstruction Report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39959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35240" y="37856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480560"/>
            <a:ext cx="7863840" cy="841248"/>
          </a:xfrm>
          <a:prstGeom prst="roundRect">
            <a:avLst>
              <a:gd name="adj" fmla="val 7609"/>
            </a:avLst>
          </a:prstGeom>
          <a:solidFill>
            <a:srgbClr val="F3F5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681728"/>
            <a:ext cx="438912" cy="438912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81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62686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Final Affidavit &amp; Oral Presentation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71600" y="496519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47548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572768"/>
            <a:ext cx="2971800" cy="4251960"/>
          </a:xfrm>
          <a:prstGeom prst="roundRect">
            <a:avLst>
              <a:gd name="adj" fmla="val 2462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1783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RULES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15400" y="2221992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280" y="21488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nothing. Verify everything.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915400" y="3090672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hashes, timestamps, IPs or conclusions.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8915400" y="3959352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35" name="Text 33"/>
          <p:cNvSpPr/>
          <p:nvPr/>
        </p:nvSpPr>
        <p:spPr>
          <a:xfrm>
            <a:off x="9098280" y="38862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raw/sensitive evidence (E01, RAM, PCAP, backups) from the public repo.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915400" y="4828032"/>
            <a:ext cx="64008" cy="64008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37" name="Text 35"/>
          <p:cNvSpPr/>
          <p:nvPr/>
        </p:nvSpPr>
        <p:spPr>
          <a:xfrm>
            <a:off x="9098280" y="4754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scripts and logs reproducible.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114800" cy="411480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§8.1 &amp; §13 · 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Conclusion &amp; 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FORENSIC CONCLUSION (course-anticipated)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313432"/>
            <a:ext cx="73152" cy="73152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21992"/>
            <a:ext cx="5989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walkthrough anticipates a mixed-authenticity finding — the leak is not wholly genuine nor wholly fabricated.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364992"/>
            <a:ext cx="73152" cy="73152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73552"/>
            <a:ext cx="5989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pattern: audio splicing, manipulated PDF/financial content, plus laptop evidence of AI-tool activity and access to incriminating files.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416552"/>
            <a:ext cx="73152" cy="73152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325112"/>
            <a:ext cx="5989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examiner must present findings as evidence-based, state limitations, and avoid legal conclusions such as ‘guilty’ — that determination belongs to the court.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15544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081527"/>
          </a:solidFill>
          <a:ln w="12700">
            <a:solidFill>
              <a:srgbClr val="233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/ COURSE SOURCE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2313432"/>
            <a:ext cx="64008" cy="64008"/>
          </a:xfrm>
          <a:prstGeom prst="ellipse">
            <a:avLst/>
          </a:prstGeom>
          <a:solidFill>
            <a:srgbClr val="8FA0BA"/>
          </a:solidFill>
          <a:ln/>
        </p:spPr>
      </p:sp>
      <p:sp>
        <p:nvSpPr>
          <p:cNvPr id="16" name="Text 14"/>
          <p:cNvSpPr/>
          <p:nvPr/>
        </p:nvSpPr>
        <p:spPr>
          <a:xfrm>
            <a:off x="7790688" y="221284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Fundamentals — ISS 7133 course PDF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7589520" y="3063240"/>
            <a:ext cx="64008" cy="64008"/>
          </a:xfrm>
          <a:prstGeom prst="ellipse">
            <a:avLst/>
          </a:prstGeom>
          <a:solidFill>
            <a:srgbClr val="8FA0BA"/>
          </a:solidFill>
          <a:ln/>
        </p:spPr>
      </p:sp>
      <p:sp>
        <p:nvSpPr>
          <p:cNvPr id="18" name="Text 16"/>
          <p:cNvSpPr/>
          <p:nvPr/>
        </p:nvSpPr>
        <p:spPr>
          <a:xfrm>
            <a:off x="7790688" y="296265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walkthrough: course PDF pp. 16–22, 236–252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589520" y="3813048"/>
            <a:ext cx="64008" cy="64008"/>
          </a:xfrm>
          <a:prstGeom prst="ellipse">
            <a:avLst/>
          </a:prstGeom>
          <a:solidFill>
            <a:srgbClr val="8FA0BA"/>
          </a:solidFill>
          <a:ln/>
        </p:spPr>
      </p:sp>
      <p:sp>
        <p:nvSpPr>
          <p:cNvPr id="20" name="Text 18"/>
          <p:cNvSpPr/>
          <p:nvPr/>
        </p:nvSpPr>
        <p:spPr>
          <a:xfrm>
            <a:off x="7790688" y="371246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800-86 and SP 800-101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589520" y="4562856"/>
            <a:ext cx="64008" cy="64008"/>
          </a:xfrm>
          <a:prstGeom prst="ellipse">
            <a:avLst/>
          </a:prstGeom>
          <a:solidFill>
            <a:srgbClr val="8FA0BA"/>
          </a:solidFill>
          <a:ln/>
        </p:spPr>
      </p:sp>
      <p:sp>
        <p:nvSpPr>
          <p:cNvPr id="22" name="Text 20"/>
          <p:cNvSpPr/>
          <p:nvPr/>
        </p:nvSpPr>
        <p:spPr>
          <a:xfrm>
            <a:off x="7790688" y="44622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SWGDE digital evidence best-practice documents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7589520" y="5312664"/>
            <a:ext cx="64008" cy="64008"/>
          </a:xfrm>
          <a:prstGeom prst="ellipse">
            <a:avLst/>
          </a:prstGeom>
          <a:solidFill>
            <a:srgbClr val="8FA0BA"/>
          </a:solidFill>
          <a:ln/>
        </p:spPr>
      </p:sp>
      <p:sp>
        <p:nvSpPr>
          <p:cNvPr id="24" name="Text 22"/>
          <p:cNvSpPr/>
          <p:nvPr/>
        </p:nvSpPr>
        <p:spPr>
          <a:xfrm>
            <a:off x="7790688" y="5212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named by the course: Autopsy, Volatility, Wireshark, FTK Imager, Sleuth Kit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Microsoft Office PowerPoint</Application>
  <PresentationFormat>Widescreen</PresentationFormat>
  <Paragraphs>353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 Jude</cp:lastModifiedBy>
  <cp:revision>2</cp:revision>
  <dcterms:created xsi:type="dcterms:W3CDTF">2026-08-25T11:09:54Z</dcterms:created>
  <dcterms:modified xsi:type="dcterms:W3CDTF">2026-08-25T11:42:28Z</dcterms:modified>
</cp:coreProperties>
</file>